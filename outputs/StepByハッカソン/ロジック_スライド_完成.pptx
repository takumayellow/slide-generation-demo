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openxmlformats.org/officeDocument/2006/relationships" xmlns:ns3="http://schemas.microsoft.com/office/drawing/2016/SVG/main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name="Group 2" id="1"/>
          <p:cNvGrpSpPr/>
          <p:nvPr/>
        </p:nvGrpSpPr>
        <p:grpSpPr>
          <a:xfrm rot="0">
            <a:off x="0" y="0"/>
            <a:ext cx="18288000" cy="1619250"/>
            <a:chOff x="0" y="0"/>
            <a:chExt cx="4816593" cy="426469"/>
          </a:xfrm>
        </p:grpSpPr>
        <p:sp>
          <p:nvSpPr>
            <p:cNvPr name="Freeform 3" id="2"/>
            <p:cNvSpPr/>
            <p:nvPr/>
          </p:nvSpPr>
          <p:spPr>
            <a:xfrm flipH="false" flipV="false" rot="0">
              <a:off x="0" y="0"/>
              <a:ext cx="4816592" cy="426469"/>
            </a:xfrm>
            <a:custGeom>
              <a:avLst/>
              <a:gdLst/>
              <a:ahLst/>
              <a:cxnLst/>
              <a:rect r="r" b="b" t="t" l="l"/>
              <a:pathLst>
                <a:path h="42646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262262"/>
            </a:solidFill>
          </p:spPr>
        </p:sp>
        <p:sp>
          <p:nvSpPr>
            <p:cNvPr name="TextBox 4" id="3"/>
            <p:cNvSpPr txBox="true"/>
            <p:nvPr/>
          </p:nvSpPr>
          <p:spPr>
            <a:xfrm>
              <a:off x="0" y="-285750"/>
              <a:ext cx="4816593" cy="712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id="2" name="Rectangle 1"/>
          <p:cNvSpPr/>
          <p:nvPr/>
        </p:nvSpPr>
        <p:spPr>
          <a:xfrm>
            <a:off x="0" y="0"/>
            <a:ext cx="18288000" cy="1619250"/>
          </a:xfrm>
          <a:prstGeom prst="rect">
            <a:avLst/>
          </a:prstGeom>
          <a:solidFill>
            <a:srgbClr val="262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18" id="4"/>
          <p:cNvGrpSpPr/>
          <p:nvPr/>
        </p:nvGrpSpPr>
        <p:grpSpPr>
          <a:xfrm rot="0">
            <a:off x="-769371" y="0"/>
            <a:ext cx="3167383" cy="1619250"/>
            <a:chOff x="0" y="0"/>
            <a:chExt cx="979343" cy="500666"/>
          </a:xfrm>
        </p:grpSpPr>
        <p:sp>
          <p:nvSpPr>
            <p:cNvPr name="Freeform 19" id="5"/>
            <p:cNvSpPr/>
            <p:nvPr/>
          </p:nvSpPr>
          <p:spPr>
            <a:xfrm flipH="false" flipV="false" rot="0">
              <a:off x="0" y="0"/>
              <a:ext cx="979343" cy="500666"/>
            </a:xfrm>
            <a:custGeom>
              <a:avLst/>
              <a:gdLst/>
              <a:ahLst/>
              <a:cxnLst/>
              <a:rect r="r" b="b" t="t" l="l"/>
              <a:pathLst>
                <a:path h="500666" w="979343">
                  <a:moveTo>
                    <a:pt x="203200" y="0"/>
                  </a:moveTo>
                  <a:lnTo>
                    <a:pt x="979343" y="0"/>
                  </a:lnTo>
                  <a:lnTo>
                    <a:pt x="776143" y="500666"/>
                  </a:lnTo>
                  <a:lnTo>
                    <a:pt x="0" y="50066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B75BC"/>
            </a:solidFill>
          </p:spPr>
        </p:sp>
        <p:sp>
          <p:nvSpPr>
            <p:cNvPr name="TextBox 20" id="6"/>
            <p:cNvSpPr txBox="true"/>
            <p:nvPr/>
          </p:nvSpPr>
          <p:spPr>
            <a:xfrm>
              <a:off x="101600" y="-285750"/>
              <a:ext cx="776143" cy="786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65760" y="13716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BIZ UDPGothic"/>
              </a:rPr>
              <a:t>ロジック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62262"/>
                </a:solidFill>
                <a:latin typeface="BIZ UDPGothic"/>
              </a:rPr>
              <a:t>GitHub API  →  Gemini AI (JSON)  →  初心者向けUI</a:t>
            </a:r>
          </a:p>
        </p:txBody>
      </p:sp>
      <p:grpSp>
        <p:nvGrpSpPr>
          <p:cNvPr name="Group 5" id="7"/>
          <p:cNvGrpSpPr/>
          <p:nvPr/>
        </p:nvGrpSpPr>
        <p:grpSpPr>
          <a:xfrm rot="0">
            <a:off x="2176210" y="2367783"/>
            <a:ext cx="2567568" cy="2567568"/>
            <a:chOff x="0" y="0"/>
            <a:chExt cx="812800" cy="812800"/>
          </a:xfrm>
        </p:grpSpPr>
        <p:sp>
          <p:nvSpPr>
            <p:cNvPr name="Freeform 6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7" id="9"/>
            <p:cNvSpPr txBox="true"/>
            <p:nvPr/>
          </p:nvSpPr>
          <p:spPr>
            <a:xfrm>
              <a:off x="76200" y="-209550"/>
              <a:ext cx="660400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Freeform 21" id="10"/>
          <p:cNvSpPr/>
          <p:nvPr/>
        </p:nvSpPr>
        <p:spPr>
          <a:xfrm flipH="false" flipV="false" rot="0">
            <a:off x="2802769" y="2994342"/>
            <a:ext cx="1314450" cy="1314450"/>
          </a:xfrm>
          <a:custGeom>
            <a:avLst/>
            <a:gdLst/>
            <a:ahLst/>
            <a:cxnLst/>
            <a:rect r="r" b="b" t="t" l="l"/>
            <a:pathLst>
              <a:path h="1314450" w="1314450">
                <a:moveTo>
                  <a:pt x="0" y="0"/>
                </a:moveTo>
                <a:lnTo>
                  <a:pt x="1314450" y="0"/>
                </a:lnTo>
                <a:lnTo>
                  <a:pt x="131445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blipFill>
            <a:blip ns2:embed="rId6">
              <a:extLst>
                <a:ext uri="{96DAC541-7B7A-43D3-8B79-37D633B846F1}">
                  <ns3:svgBlip ns2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11"/>
          <p:cNvGrpSpPr/>
          <p:nvPr/>
        </p:nvGrpSpPr>
        <p:grpSpPr>
          <a:xfrm rot="0">
            <a:off x="7862008" y="2367783"/>
            <a:ext cx="2567568" cy="2567568"/>
            <a:chOff x="0" y="0"/>
            <a:chExt cx="812800" cy="812800"/>
          </a:xfrm>
        </p:grpSpPr>
        <p:sp>
          <p:nvSpPr>
            <p:cNvPr name="Freeform 9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0" id="13"/>
            <p:cNvSpPr txBox="true"/>
            <p:nvPr/>
          </p:nvSpPr>
          <p:spPr>
            <a:xfrm>
              <a:off x="76200" y="-209550"/>
              <a:ext cx="660400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Freeform 11" id="14"/>
          <p:cNvSpPr/>
          <p:nvPr/>
        </p:nvSpPr>
        <p:spPr>
          <a:xfrm flipH="false" flipV="false" rot="0">
            <a:off x="8502855" y="3049497"/>
            <a:ext cx="1285875" cy="1250806"/>
          </a:xfrm>
          <a:custGeom>
            <a:avLst/>
            <a:gdLst/>
            <a:ahLst/>
            <a:cxnLst/>
            <a:rect r="r" b="b" t="t" l="l"/>
            <a:pathLst>
              <a:path h="1250806" w="1285875">
                <a:moveTo>
                  <a:pt x="0" y="0"/>
                </a:moveTo>
                <a:lnTo>
                  <a:pt x="1285875" y="0"/>
                </a:lnTo>
                <a:lnTo>
                  <a:pt x="1285875" y="1250806"/>
                </a:lnTo>
                <a:lnTo>
                  <a:pt x="0" y="1250806"/>
                </a:lnTo>
                <a:lnTo>
                  <a:pt x="0" y="0"/>
                </a:lnTo>
                <a:close/>
              </a:path>
            </a:pathLst>
          </a:custGeom>
          <a:blipFill>
            <a:blip ns2:embed="rId2">
              <a:extLst>
                <a:ext uri="{96DAC541-7B7A-43D3-8B79-37D633B846F1}">
                  <ns3:svgBlip ns2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5"/>
          <p:cNvGrpSpPr/>
          <p:nvPr/>
        </p:nvGrpSpPr>
        <p:grpSpPr>
          <a:xfrm rot="0">
            <a:off x="13544222" y="2367783"/>
            <a:ext cx="2567568" cy="2567568"/>
            <a:chOff x="0" y="0"/>
            <a:chExt cx="812800" cy="812800"/>
          </a:xfrm>
        </p:grpSpPr>
        <p:sp>
          <p:nvSpPr>
            <p:cNvPr name="Freeform 13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EEF"/>
            </a:solidFill>
          </p:spPr>
        </p:sp>
        <p:sp>
          <p:nvSpPr>
            <p:cNvPr name="TextBox 14" id="17"/>
            <p:cNvSpPr txBox="true"/>
            <p:nvPr/>
          </p:nvSpPr>
          <p:spPr>
            <a:xfrm>
              <a:off x="76200" y="-209550"/>
              <a:ext cx="660400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6"/>
                </a:lnSpc>
              </a:pPr>
            </a:p>
          </p:txBody>
        </p:sp>
      </p:grpSp>
      <p:sp>
        <p:nvSpPr>
          <p:cNvPr name="Freeform 15" id="18"/>
          <p:cNvSpPr/>
          <p:nvPr/>
        </p:nvSpPr>
        <p:spPr>
          <a:xfrm flipH="false" flipV="false" rot="0">
            <a:off x="14185068" y="3049497"/>
            <a:ext cx="1285875" cy="1288217"/>
          </a:xfrm>
          <a:custGeom>
            <a:avLst/>
            <a:gdLst/>
            <a:ahLst/>
            <a:cxnLst/>
            <a:rect r="r" b="b" t="t" l="l"/>
            <a:pathLst>
              <a:path h="1288217" w="1285875">
                <a:moveTo>
                  <a:pt x="0" y="0"/>
                </a:moveTo>
                <a:lnTo>
                  <a:pt x="1285875" y="0"/>
                </a:lnTo>
                <a:lnTo>
                  <a:pt x="1285875" y="1288217"/>
                </a:lnTo>
                <a:lnTo>
                  <a:pt x="0" y="1288217"/>
                </a:lnTo>
                <a:lnTo>
                  <a:pt x="0" y="0"/>
                </a:lnTo>
                <a:close/>
              </a:path>
            </a:pathLst>
          </a:custGeom>
          <a:blipFill>
            <a:blip ns2:embed="rId4">
              <a:extLst>
                <a:ext uri="{96DAC541-7B7A-43D3-8B79-37D633B846F1}">
                  <ns3:svgBlip ns2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9"/>
          <p:cNvSpPr/>
          <p:nvPr/>
        </p:nvSpPr>
        <p:spPr>
          <a:xfrm>
            <a:off x="6302231" y="2233969"/>
            <a:ext cx="0" cy="7438313"/>
          </a:xfrm>
          <a:prstGeom prst="line">
            <a:avLst/>
          </a:prstGeom>
          <a:ln cap="flat" w="19050">
            <a:solidFill>
              <a:srgbClr val="D9D9D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" id="20"/>
          <p:cNvSpPr/>
          <p:nvPr/>
        </p:nvSpPr>
        <p:spPr>
          <a:xfrm>
            <a:off x="11989353" y="2233969"/>
            <a:ext cx="0" cy="7438313"/>
          </a:xfrm>
          <a:prstGeom prst="line">
            <a:avLst/>
          </a:prstGeom>
          <a:ln cap="flat" w="19050">
            <a:solidFill>
              <a:srgbClr val="D9D9D9"/>
            </a:solidFill>
            <a:prstDash val="sysDash"/>
            <a:headEnd type="none" len="sm" w="sm"/>
            <a:tailEnd type="none" len="sm" w="sm"/>
          </a:ln>
        </p:spPr>
      </p:sp>
      <p:sp>
        <p:nvSpPr>
          <p:cNvPr id="6" name="Rounded Rectangle 5"/>
          <p:cNvSpPr/>
          <p:nvPr/>
        </p:nvSpPr>
        <p:spPr>
          <a:xfrm>
            <a:off x="100584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2D3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38404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ja-JP" sz="1400" b="1"/>
              <a:t>GitHub API / Octokit</a:t>
            </a:r>
            <a:endParaRPr lang="ja-JP" sz="1400"/>
          </a:p>
          <a:p>
            <a:pPr/>
            <a:r>
              <a:rPr lang="ja-JP" sz="1400"/>
              <a:t>リポジトリ情報を取得</a:t>
            </a:r>
            <a:endParaRPr lang="ja-JP" sz="1400"/>
          </a:p>
          <a:p>
            <a:pPr/>
            <a:r>
              <a:rPr lang="ja-JP" sz="1400"/>
              <a:t>・ファイル構造 / README</a:t>
            </a:r>
            <a:endParaRPr lang="ja-JP" sz="1400"/>
          </a:p>
          <a:p>
            <a:pPr/>
            <a:r>
              <a:rPr lang="ja-JP" sz="1400"/>
              <a:t>・Issue</a:t>
            </a:r>
            <a:endParaRPr lang="ja-JP" sz="1400"/>
          </a:p>
          <a:p>
            <a:pPr/>
            <a:r>
              <a:rPr lang="ja-JP" sz="1400"/>
              <a:t>・PR diff</a:t>
            </a:r>
            <a:endParaRPr lang="ja-JP" sz="1400"/>
          </a:p>
        </p:txBody>
      </p:sp>
      <p:sp>
        <p:nvSpPr>
          <p:cNvPr id="8" name="TextBox 7"/>
          <p:cNvSpPr txBox="1"/>
          <p:nvPr/>
        </p:nvSpPr>
        <p:spPr>
          <a:xfrm>
            <a:off x="571500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200400"/>
            <a:ext cx="38404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ja-JP" sz="1500" b="1"/>
              <a:t>Gemini 2.5 Flash</a:t>
            </a:r>
            <a:endParaRPr lang="ja-JP" sz="1500"/>
          </a:p>
          <a:p>
            <a:pPr/>
            <a:r>
              <a:rPr lang="ja-JP" sz="1500"/>
              <a:t>初心者向けに構造化</a:t>
            </a:r>
            <a:endParaRPr lang="ja-JP" sz="1500"/>
          </a:p>
          <a:p>
            <a:pPr/>
            <a:r>
              <a:rPr lang="ja-JP" sz="1500"/>
              <a:t>→ JSON出力</a:t>
            </a:r>
            <a:endParaRPr lang="ja-JP" sz="1500"/>
          </a:p>
        </p:txBody>
      </p:sp>
      <p:sp>
        <p:nvSpPr>
          <p:cNvPr id="11" name="TextBox 10"/>
          <p:cNvSpPr txBox="1"/>
          <p:nvPr/>
        </p:nvSpPr>
        <p:spPr>
          <a:xfrm>
            <a:off x="115671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EEF"/>
                </a:solidFill>
                <a:latin typeface="BIZ UDP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710160" y="292608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0" y="3200400"/>
            <a:ext cx="38404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ja-JP" sz="1400" b="1"/>
              <a:t>初心者向けUI</a:t>
            </a:r>
            <a:endParaRPr lang="ja-JP" sz="1400"/>
          </a:p>
          <a:p>
            <a:pPr/>
            <a:r>
              <a:rPr lang="ja-JP" sz="1400"/>
              <a:t>わかりやすく表示</a:t>
            </a:r>
            <a:endParaRPr lang="ja-JP" sz="1400"/>
          </a:p>
          <a:p>
            <a:pPr/>
            <a:r>
              <a:rPr lang="ja-JP" sz="1400"/>
              <a:t>・極小ステップ</a:t>
            </a:r>
            <a:endParaRPr lang="ja-JP" sz="1400"/>
          </a:p>
          <a:p>
            <a:pPr/>
            <a:r>
              <a:rPr lang="ja-JP" sz="1400"/>
              <a:t>・公式ドキュメントリンク</a:t>
            </a:r>
            <a:endParaRPr lang="ja-JP" sz="1400"/>
          </a:p>
          <a:p>
            <a:pPr/>
            <a:r>
              <a:rPr lang="ja-JP" sz="1400"/>
              <a:t>・コマンドコピペ</a:t>
            </a:r>
            <a:endParaRPr lang="ja-JP" sz="1400"/>
          </a:p>
        </p:txBody>
      </p:sp>
      <p:sp>
        <p:nvSpPr>
          <p:cNvPr id="14" name="Oval 13"/>
          <p:cNvSpPr/>
          <p:nvPr/>
        </p:nvSpPr>
        <p:spPr>
          <a:xfrm>
            <a:off x="1280160" y="626364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26364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262"/>
                </a:solidFill>
                <a:latin typeface="BIZ UDPGothic"/>
              </a:rPr>
              <a:t>リポジトリ分析  →  学習ロードマップ + 全Issue分解</a:t>
            </a:r>
          </a:p>
        </p:txBody>
      </p:sp>
      <p:sp>
        <p:nvSpPr>
          <p:cNvPr id="16" name="Oval 15"/>
          <p:cNvSpPr/>
          <p:nvPr/>
        </p:nvSpPr>
        <p:spPr>
          <a:xfrm>
            <a:off x="9281160" y="626364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26364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262"/>
                </a:solidFill>
                <a:latin typeface="BIZ UDPGothic"/>
              </a:rPr>
              <a:t>Issue  →  極小タスク分解</a:t>
            </a:r>
          </a:p>
        </p:txBody>
      </p:sp>
      <p:sp>
        <p:nvSpPr>
          <p:cNvPr id="18" name="Oval 17"/>
          <p:cNvSpPr/>
          <p:nvPr/>
        </p:nvSpPr>
        <p:spPr>
          <a:xfrm>
            <a:off x="1280160" y="685800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85800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262"/>
                </a:solidFill>
                <a:latin typeface="BIZ UDPGothic"/>
              </a:rPr>
              <a:t>プロジェクト  →  オンボーディングガイド自動生成</a:t>
            </a:r>
          </a:p>
        </p:txBody>
      </p:sp>
      <p:sp>
        <p:nvSpPr>
          <p:cNvPr id="20" name="Oval 19"/>
          <p:cNvSpPr/>
          <p:nvPr/>
        </p:nvSpPr>
        <p:spPr>
          <a:xfrm>
            <a:off x="9281160" y="6858000"/>
            <a:ext cx="411480" cy="41148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6858000"/>
            <a:ext cx="7269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262"/>
                </a:solidFill>
                <a:latin typeface="BIZ UDPGothic"/>
              </a:rPr>
              <a:t>PR diff  →  AIコードレビュー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