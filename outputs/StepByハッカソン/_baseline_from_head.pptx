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/>
          <p:nvPr/>
        </p:nvGrpSpPr>
        <p:grpSpPr>
          <a:xfrm>
            <a:off x="0" y="0"/>
            <a:ext cx="18288000" cy="1619250"/>
            <a:chOff x="0" y="0"/>
            <a:chExt cx="4816593" cy="426469"/>
          </a:xfrm>
        </p:grpSpPr>
        <p:sp>
          <p:nvSpPr>
            <p:cNvPr id="25" name="Freeform 3"/>
            <p:cNvSpPr/>
            <p:nvPr/>
          </p:nvSpPr>
          <p:spPr>
            <a:xfrm>
              <a:off x="0" y="0"/>
              <a:ext cx="4816592" cy="426469"/>
            </a:xfrm>
            <a:custGeom>
              <a:avLst/>
              <a:gdLst/>
              <a:ahLst/>
              <a:cxnLst/>
              <a:rect l="l" t="t" r="r" b="b"/>
              <a:pathLst>
                <a:path w="4816592" h="426469">
                  <a:moveTo>
                    <a:pt x="0" y="0"/>
                  </a:moveTo>
                  <a:lnTo>
                    <a:pt x="4816592" y="0"/>
                  </a:lnTo>
                  <a:lnTo>
                    <a:pt x="4816592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Box 4"/>
            <p:cNvSpPr txBox="1"/>
            <p:nvPr/>
          </p:nvSpPr>
          <p:spPr>
            <a:xfrm>
              <a:off x="0" y="-285750"/>
              <a:ext cx="4816593" cy="712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6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8288000" cy="1619250"/>
          </a:xfrm>
          <a:prstGeom prst="rect">
            <a:avLst/>
          </a:prstGeom>
          <a:solidFill>
            <a:srgbClr val="262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18"/>
          <p:cNvGrpSpPr/>
          <p:nvPr/>
        </p:nvGrpSpPr>
        <p:grpSpPr>
          <a:xfrm>
            <a:off x="-769371" y="0"/>
            <a:ext cx="3167383" cy="1619250"/>
            <a:chOff x="0" y="0"/>
            <a:chExt cx="979343" cy="500666"/>
          </a:xfrm>
        </p:grpSpPr>
        <p:sp>
          <p:nvSpPr>
            <p:cNvPr id="27" name="Freeform 19"/>
            <p:cNvSpPr/>
            <p:nvPr/>
          </p:nvSpPr>
          <p:spPr>
            <a:xfrm>
              <a:off x="0" y="0"/>
              <a:ext cx="979343" cy="500666"/>
            </a:xfrm>
            <a:custGeom>
              <a:avLst/>
              <a:gdLst/>
              <a:ahLst/>
              <a:cxnLst/>
              <a:rect l="l" t="t" r="r" b="b"/>
              <a:pathLst>
                <a:path w="979343" h="500666">
                  <a:moveTo>
                    <a:pt x="203200" y="0"/>
                  </a:moveTo>
                  <a:lnTo>
                    <a:pt x="979343" y="0"/>
                  </a:lnTo>
                  <a:lnTo>
                    <a:pt x="776143" y="500666"/>
                  </a:lnTo>
                  <a:lnTo>
                    <a:pt x="0" y="50066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TextBox 20"/>
            <p:cNvSpPr txBox="1"/>
            <p:nvPr/>
          </p:nvSpPr>
          <p:spPr>
            <a:xfrm>
              <a:off x="101600" y="-285750"/>
              <a:ext cx="776143" cy="78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6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5760" y="13716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dirty="0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29" name="TextBox 3"/>
          <p:cNvSpPr txBox="1"/>
          <p:nvPr/>
        </p:nvSpPr>
        <p:spPr>
          <a:xfrm>
            <a:off x="2286000" y="137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62262"/>
                </a:solidFill>
                <a:latin typeface="BIZ UDPGothic"/>
              </a:rPr>
              <a:t>GitHub API  →  Gemini AI (JSON)  →  初心者向けUI</a:t>
            </a:r>
          </a:p>
        </p:txBody>
      </p:sp>
      <p:sp>
        <p:nvSpPr>
          <p:cNvPr id="10" name="Freeform 21"/>
          <p:cNvSpPr/>
          <p:nvPr/>
        </p:nvSpPr>
        <p:spPr>
          <a:xfrm>
            <a:off x="2802769" y="2994342"/>
            <a:ext cx="1314450" cy="1314450"/>
          </a:xfrm>
          <a:custGeom>
            <a:avLst/>
            <a:gdLst/>
            <a:ahLst/>
            <a:cxnLst/>
            <a:rect l="l" t="t" r="r" b="b"/>
            <a:pathLst>
              <a:path w="1314450" h="1314450">
                <a:moveTo>
                  <a:pt x="0" y="0"/>
                </a:moveTo>
                <a:lnTo>
                  <a:pt x="1314450" y="0"/>
                </a:lnTo>
                <a:lnTo>
                  <a:pt x="131445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4" name="Freeform 11"/>
          <p:cNvSpPr/>
          <p:nvPr/>
        </p:nvSpPr>
        <p:spPr>
          <a:xfrm>
            <a:off x="8502855" y="3049497"/>
            <a:ext cx="1285875" cy="1250806"/>
          </a:xfrm>
          <a:custGeom>
            <a:avLst/>
            <a:gdLst/>
            <a:ahLst/>
            <a:cxnLst/>
            <a:rect l="l" t="t" r="r" b="b"/>
            <a:pathLst>
              <a:path w="1285875" h="1250806">
                <a:moveTo>
                  <a:pt x="0" y="0"/>
                </a:moveTo>
                <a:lnTo>
                  <a:pt x="1285875" y="0"/>
                </a:lnTo>
                <a:lnTo>
                  <a:pt x="1285875" y="1250806"/>
                </a:lnTo>
                <a:lnTo>
                  <a:pt x="0" y="12508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8" name="Freeform 15"/>
          <p:cNvSpPr/>
          <p:nvPr/>
        </p:nvSpPr>
        <p:spPr>
          <a:xfrm>
            <a:off x="14185068" y="3049497"/>
            <a:ext cx="1285875" cy="1288217"/>
          </a:xfrm>
          <a:custGeom>
            <a:avLst/>
            <a:gdLst/>
            <a:ahLst/>
            <a:cxnLst/>
            <a:rect l="l" t="t" r="r" b="b"/>
            <a:pathLst>
              <a:path w="1285875" h="1288217">
                <a:moveTo>
                  <a:pt x="0" y="0"/>
                </a:moveTo>
                <a:lnTo>
                  <a:pt x="1285875" y="0"/>
                </a:lnTo>
                <a:lnTo>
                  <a:pt x="1285875" y="1288217"/>
                </a:lnTo>
                <a:lnTo>
                  <a:pt x="0" y="128821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0584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6"/>
          <p:cNvSpPr txBox="1"/>
          <p:nvPr/>
        </p:nvSpPr>
        <p:spPr>
          <a:xfrm>
            <a:off x="137160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FFFFFF"/>
                </a:solidFill>
                <a:latin typeface="BIZ UDPGothic"/>
              </a:rPr>
              <a:t>GitHub API / </a:t>
            </a:r>
            <a:r>
              <a:rPr sz="1600" b="1" dirty="0" err="1">
                <a:solidFill>
                  <a:srgbClr val="FFFFFF"/>
                </a:solidFill>
                <a:latin typeface="BIZ UDPGothic"/>
              </a:rPr>
              <a:t>Octokit</a:t>
            </a:r>
            <a:endParaRPr sz="16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endParaRPr sz="16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1600" b="0" dirty="0" err="1">
                <a:solidFill>
                  <a:srgbClr val="FFFFFF"/>
                </a:solidFill>
                <a:latin typeface="BIZ UDPGothic"/>
              </a:rPr>
              <a:t>リポジトリ情報を取得</a:t>
            </a:r>
            <a:endParaRPr sz="16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1600" b="0" dirty="0" err="1">
                <a:solidFill>
                  <a:srgbClr val="FFFFFF"/>
                </a:solidFill>
                <a:latin typeface="BIZ UDPGothic"/>
              </a:rPr>
              <a:t>ファイル構造</a:t>
            </a:r>
            <a:r>
              <a:rPr sz="1600" b="0" dirty="0">
                <a:solidFill>
                  <a:srgbClr val="FFFFFF"/>
                </a:solidFill>
                <a:latin typeface="BIZ UDPGothic"/>
              </a:rPr>
              <a:t> / README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BIZ UDPGothic"/>
              </a:rPr>
              <a:t>・Issue (title, body)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BIZ UDPGothic"/>
              </a:rPr>
              <a:t>・PR diff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9"/>
          <p:cNvSpPr txBox="1"/>
          <p:nvPr/>
        </p:nvSpPr>
        <p:spPr>
          <a:xfrm>
            <a:off x="722376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IZ UDPGothic"/>
              </a:rPr>
              <a:t>Gemini 2.5 Flash</a:t>
            </a:r>
          </a:p>
          <a:p>
            <a:pPr>
              <a:spcAft>
                <a:spcPts val="400"/>
              </a:spcAft>
            </a:pPr>
            <a:endParaRPr sz="1600" b="1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初心者向けに構造化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→ JSON出力</a:t>
            </a:r>
          </a:p>
        </p:txBody>
      </p:sp>
      <p:sp>
        <p:nvSpPr>
          <p:cNvPr id="38" name="TextBox 10"/>
          <p:cNvSpPr txBox="1"/>
          <p:nvPr/>
        </p:nvSpPr>
        <p:spPr>
          <a:xfrm>
            <a:off x="115671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1016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592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IZ UDPGothic"/>
              </a:rPr>
              <a:t>初心者向けUI</a:t>
            </a:r>
          </a:p>
          <a:p>
            <a:pPr>
              <a:spcAft>
                <a:spcPts val="400"/>
              </a:spcAft>
            </a:pPr>
            <a:endParaRPr sz="1600" b="1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わかりやすく表示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・極小ステップ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・公式ドキュメントリンク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BIZ UDPGothic"/>
              </a:rPr>
              <a:t>・コマンドコピペ</a:t>
            </a:r>
          </a:p>
        </p:txBody>
      </p:sp>
      <p:sp>
        <p:nvSpPr>
          <p:cNvPr id="39" name="Oval 13"/>
          <p:cNvSpPr/>
          <p:nvPr/>
        </p:nvSpPr>
        <p:spPr>
          <a:xfrm>
            <a:off x="1280160" y="626364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①</a:t>
            </a:r>
          </a:p>
        </p:txBody>
      </p:sp>
      <p:sp>
        <p:nvSpPr>
          <p:cNvPr id="40" name="TextBox 14"/>
          <p:cNvSpPr txBox="1"/>
          <p:nvPr/>
        </p:nvSpPr>
        <p:spPr>
          <a:xfrm>
            <a:off x="1828800" y="626364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リポジトリ分析  →  学習ロードマップ + 全Issue分解</a:t>
            </a:r>
          </a:p>
        </p:txBody>
      </p:sp>
      <p:sp>
        <p:nvSpPr>
          <p:cNvPr id="16" name="Oval 15"/>
          <p:cNvSpPr/>
          <p:nvPr/>
        </p:nvSpPr>
        <p:spPr>
          <a:xfrm>
            <a:off x="9281160" y="626364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26364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Issue  →  極小タスク分解</a:t>
            </a:r>
          </a:p>
        </p:txBody>
      </p:sp>
      <p:sp>
        <p:nvSpPr>
          <p:cNvPr id="41" name="Oval 17"/>
          <p:cNvSpPr/>
          <p:nvPr/>
        </p:nvSpPr>
        <p:spPr>
          <a:xfrm>
            <a:off x="1280160" y="685800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③</a:t>
            </a:r>
          </a:p>
        </p:txBody>
      </p:sp>
      <p:sp>
        <p:nvSpPr>
          <p:cNvPr id="42" name="TextBox 18"/>
          <p:cNvSpPr txBox="1"/>
          <p:nvPr/>
        </p:nvSpPr>
        <p:spPr>
          <a:xfrm>
            <a:off x="1828800" y="685800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プロジェクト  →  オンボーディングガイド自動生成</a:t>
            </a:r>
          </a:p>
        </p:txBody>
      </p:sp>
      <p:sp>
        <p:nvSpPr>
          <p:cNvPr id="43" name="Oval 19"/>
          <p:cNvSpPr/>
          <p:nvPr/>
        </p:nvSpPr>
        <p:spPr>
          <a:xfrm>
            <a:off x="9281160" y="685800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685800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262"/>
                </a:solidFill>
                <a:latin typeface="BIZ UDPGothic"/>
              </a:rPr>
              <a:t>PR diff  →  AIコードレビュー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7863840"/>
            <a:ext cx="16276320" cy="64008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7955280"/>
            <a:ext cx="1536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BIZ UDPGothic"/>
              </a:rPr>
              <a:t>全パイプライン共通:  Gemini 2.5 Flash  /  JSON構造化出力  /  Firestore永続化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83</Words>
  <Application>Microsoft Office PowerPoint</Application>
  <PresentationFormat>ユーザー設定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BIZ UDPGothic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森　拓磨</cp:lastModifiedBy>
  <cp:revision>2</cp:revision>
  <dcterms:created xsi:type="dcterms:W3CDTF">2013-01-27T09:14:16Z</dcterms:created>
  <dcterms:modified xsi:type="dcterms:W3CDTF">2026-03-20T02:13:25Z</dcterms:modified>
  <cp:category/>
</cp:coreProperties>
</file>