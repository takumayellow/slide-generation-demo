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1" d="100"/>
          <a:sy n="51" d="100"/>
        </p:scale>
        <p:origin x="26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ns0:sld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pSp>
        <ns0:nvGrpSpPr>
          <ns0:cNvPr id="24" name="Group 2"/>
          <ns0:cNvGrpSpPr/>
          <ns0:nvPr/>
        </ns0:nvGrpSpPr>
        <ns0:grpSpPr>
          <ns1:xfrm>
            <ns1:off x="0" y="0"/>
            <ns1:ext cx="18288000" cy="1619250"/>
            <ns1:chOff x="0" y="0"/>
            <ns1:chExt cx="4816593" cy="426469"/>
          </ns1:xfrm>
        </ns0:grpSpPr>
        <ns0:sp>
          <ns0:nvSpPr>
            <ns0:cNvPr id="25" name="Freeform 3"/>
            <ns0:cNvSpPr/>
            <ns0:nvPr/>
          </ns0:nvSpPr>
          <ns0:spPr>
            <ns1:xfrm>
              <ns1:off x="0" y="0"/>
              <ns1:ext cx="4816592" cy="426469"/>
            </ns1:xfrm>
            <ns1:custGeom>
              <ns1:avLst/>
              <ns1:gdLst/>
              <ns1:ahLst/>
              <ns1:cxnLst/>
              <ns1:rect l="l" t="t" r="r" b="b"/>
              <ns1:pathLst>
                <ns1:path w="4816592" h="426469">
                  <ns1:moveTo>
                    <ns1:pt x="0" y="0"/>
                  </ns1:moveTo>
                  <ns1:lnTo>
                    <ns1:pt x="4816592" y="0"/>
                  </ns1:lnTo>
                  <ns1:lnTo>
                    <ns1:pt x="4816592" y="426469"/>
                  </ns1:lnTo>
                  <ns1:lnTo>
                    <ns1:pt x="0" y="426469"/>
                  </ns1:lnTo>
                  <ns1:close/>
                </ns1:path>
              </ns1:pathLst>
            </ns1:custGeom>
            <ns1:solidFill>
              <ns1:srgbClr val="262262"/>
            </ns1:solidFill>
          </ns0:spPr>
          <ns0:txBody>
            <ns1:bodyPr/>
            <ns1:lstStyle/>
            <ns1:p>
              <ns1:endParaRPr lang="ja-JP" altLang="en-US"/>
            </ns1:p>
          </ns0:txBody>
        </ns0:sp>
        <ns0:sp>
          <ns0:nvSpPr>
            <ns0:cNvPr id="26" name="TextBox 4"/>
            <ns0:cNvSpPr txBox="1"/>
            <ns0:nvPr/>
          </ns0:nvSpPr>
          <ns0:spPr>
            <ns1:xfrm>
              <ns1:off x="0" y="-285750"/>
              <ns1:ext cx="4816593" cy="712219"/>
            </ns1:xfrm>
            <ns1:prstGeom prst="rect">
              <ns1:avLst/>
            </ns1:prstGeom>
          </ns0:spPr>
          <ns0:txBody>
            <ns1:bodyPr lIns="50800" tIns="50800" rIns="50800" bIns="50800" rtlCol="0" anchor="ctr"/>
            <ns1:lstStyle/>
            <ns1:p>
              <ns1:pPr algn="ctr">
                <ns1:lnSpc>
                  <ns1:spcPts val="3456"/>
                </ns1:lnSpc>
              </ns1:pPr>
              <ns1:endParaRPr/>
            </ns1:p>
          </ns0:txBody>
        </ns0:sp>
      </ns0:grpSp>
      <ns0:sp>
        <ns0:nvSpPr>
          <ns0:cNvPr id="2" name="Rectangle 1"/>
          <ns0:cNvSpPr/>
          <ns0:nvPr/>
        </ns0:nvSpPr>
        <ns0:spPr>
          <ns1:xfrm>
            <ns1:off x="0" y="0"/>
            <ns1:ext cx="18288000" cy="1619250"/>
          </ns1:xfrm>
          <ns1:prstGeom prst="rect">
            <ns1:avLst/>
          </ns1:prstGeom>
          <ns1:solidFill>
            <ns1:srgbClr val="262262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grpSp>
        <ns0:nvGrpSpPr>
          <ns0:cNvPr id="4" name="Group 18"/>
          <ns0:cNvGrpSpPr/>
          <ns0:nvPr/>
        </ns0:nvGrpSpPr>
        <ns0:grpSpPr>
          <ns1:xfrm>
            <ns1:off x="-769371" y="0"/>
            <ns1:ext cx="3167383" cy="1619250"/>
            <ns1:chOff x="0" y="0"/>
            <ns1:chExt cx="979343" cy="500666"/>
          </ns1:xfrm>
        </ns0:grpSpPr>
        <ns0:sp>
          <ns0:nvSpPr>
            <ns0:cNvPr id="27" name="Freeform 19"/>
            <ns0:cNvSpPr/>
            <ns0:nvPr/>
          </ns0:nvSpPr>
          <ns0:spPr>
            <ns1:xfrm>
              <ns1:off x="0" y="0"/>
              <ns1:ext cx="979343" cy="500666"/>
            </ns1:xfrm>
            <ns1:custGeom>
              <ns1:avLst/>
              <ns1:gdLst/>
              <ns1:ahLst/>
              <ns1:cxnLst/>
              <ns1:rect l="l" t="t" r="r" b="b"/>
              <ns1:pathLst>
                <ns1:path w="979343" h="500666">
                  <ns1:moveTo>
                    <ns1:pt x="203200" y="0"/>
                  </ns1:moveTo>
                  <ns1:lnTo>
                    <ns1:pt x="979343" y="0"/>
                  </ns1:lnTo>
                  <ns1:lnTo>
                    <ns1:pt x="776143" y="500666"/>
                  </ns1:lnTo>
                  <ns1:lnTo>
                    <ns1:pt x="0" y="500666"/>
                  </ns1:lnTo>
                  <ns1:lnTo>
                    <ns1:pt x="203200" y="0"/>
                  </ns1:lnTo>
                  <ns1:close/>
                </ns1:path>
              </ns1:pathLst>
            </ns1:custGeom>
            <ns1:solidFill>
              <ns1:srgbClr val="1B75BC"/>
            </ns1:solidFill>
          </ns0:spPr>
          <ns0:txBody>
            <ns1:bodyPr/>
            <ns1:lstStyle/>
            <ns1:p>
              <ns1:endParaRPr lang="ja-JP" altLang="en-US"/>
            </ns1:p>
          </ns0:txBody>
        </ns0:sp>
        <ns0:sp>
          <ns0:nvSpPr>
            <ns0:cNvPr id="28" name="TextBox 20"/>
            <ns0:cNvSpPr txBox="1"/>
            <ns0:nvPr/>
          </ns0:nvSpPr>
          <ns0:spPr>
            <ns1:xfrm>
              <ns1:off x="101600" y="-285750"/>
              <ns1:ext cx="776143" cy="786416"/>
            </ns1:xfrm>
            <ns1:prstGeom prst="rect">
              <ns1:avLst/>
            </ns1:prstGeom>
          </ns0:spPr>
          <ns0:txBody>
            <ns1:bodyPr lIns="50800" tIns="50800" rIns="50800" bIns="50800" rtlCol="0" anchor="ctr"/>
            <ns1:lstStyle/>
            <ns1:p>
              <ns1:pPr algn="ctr">
                <ns1:lnSpc>
                  <ns1:spcPts val="3456"/>
                </ns1:lnSpc>
              </ns1:pPr>
              <ns1:endParaRPr/>
            </ns1:p>
          </ns0:txBody>
        </ns0:sp>
      </ns0:grpSp>
      <ns0:sp>
        <ns0:nvSpPr>
          <ns0:cNvPr id="3" name="TextBox 2"/>
          <ns0:cNvSpPr txBox="1"/>
          <ns0:nvPr/>
        </ns0:nvSpPr>
        <ns0:spPr>
          <ns1:xfrm>
            <ns1:off x="365760" y="137160"/>
            <ns1:ext cx="1371600" cy="128016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6000" b="1" dirty="0">
                <ns1:solidFill>
                  <ns1:srgbClr val="FFFFFF"/>
                </ns1:solidFill>
                <ns1:latin typeface="BIZ UDPGothic"/>
              </ns1:rPr>
              <ns1:t>03</ns1:t>
            </ns1:r>
          </ns1:p>
        </ns0:txBody>
      </ns0:sp>
      <ns0:sp>
        <ns0:nvSpPr>
          <ns0:cNvPr id="29" name="TextBox 3"/>
          <ns0:cNvSpPr txBox="1"/>
          <ns0:nvPr/>
        </ns0:nvSpPr>
        <ns0:spPr>
          <ns1:xfrm>
            <ns1:off x="2286000" y="137160"/>
            <ns1:ext cx="9144000" cy="128016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6000" b="1">
                <ns1:solidFill>
                  <ns1:srgbClr val="FFFFFF"/>
                </ns1:solidFill>
                <ns1:latin typeface="BIZ UDPGothic"/>
              </ns1:rPr>
              <ns1:t>ロジック</ns1:t>
            </ns1:r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914400" y="2011680"/>
            <ns1:ext cx="16459200" cy="64008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ctr"/>
            <ns1:r>
              <ns1:rPr sz="2600" b="1">
                <ns1:solidFill>
                  <ns1:srgbClr val="262262"/>
                </ns1:solidFill>
                <ns1:latin typeface="BIZ UDPGothic"/>
              </ns1:rPr>
              <ns1:t>GitHub API  →  Gemini AI (JSON)  →  初心者向けUI</ns1:t>
            </ns1:r>
          </ns1:p>
        </ns0:txBody>
      </ns0:sp>
      <ns0:sp>
        <ns0:nvSpPr>
          <ns0:cNvPr id="10" name="Freeform 21"/>
          <ns0:cNvSpPr/>
          <ns0:nvPr/>
        </ns0:nvSpPr>
        <ns0:spPr>
          <ns1:xfrm>
            <ns1:off x="2802769" y="2994342"/>
            <ns1:ext cx="1314450" cy="1314450"/>
          </ns1:xfrm>
          <ns1:custGeom>
            <ns1:avLst/>
            <ns1:gdLst/>
            <ns1:ahLst/>
            <ns1:cxnLst/>
            <ns1:rect l="l" t="t" r="r" b="b"/>
            <ns1:pathLst>
              <ns1:path w="1314450" h="1314450">
                <ns1:moveTo>
                  <ns1:pt x="0" y="0"/>
                </ns1:moveTo>
                <ns1:lnTo>
                  <ns1:pt x="1314450" y="0"/>
                </ns1:lnTo>
                <ns1:lnTo>
                  <ns1:pt x="1314450" y="1314450"/>
                </ns1:lnTo>
                <ns1:lnTo>
                  <ns1:pt x="0" y="131445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/>
            <ns1:stretch>
              <ns1:fillRect/>
            </ns1:stretch>
          </ns1:blipFill>
        </ns0:spPr>
        <ns0:txBody>
          <ns1:bodyPr/>
          <ns1:lstStyle/>
          <ns1:p>
            <ns1:endParaRPr lang="ja-JP" altLang="en-US"/>
          </ns1:p>
        </ns0:txBody>
      </ns0:sp>
      <ns0:sp>
        <ns0:nvSpPr>
          <ns0:cNvPr id="14" name="Freeform 11"/>
          <ns0:cNvSpPr/>
          <ns0:nvPr/>
        </ns0:nvSpPr>
        <ns0:spPr>
          <ns1:xfrm>
            <ns1:off x="8502855" y="3049497"/>
            <ns1:ext cx="1285875" cy="1250806"/>
          </ns1:xfrm>
          <ns1:custGeom>
            <ns1:avLst/>
            <ns1:gdLst/>
            <ns1:ahLst/>
            <ns1:cxnLst/>
            <ns1:rect l="l" t="t" r="r" b="b"/>
            <ns1:pathLst>
              <ns1:path w="1285875" h="1250806">
                <ns1:moveTo>
                  <ns1:pt x="0" y="0"/>
                </ns1:moveTo>
                <ns1:lnTo>
                  <ns1:pt x="1285875" y="0"/>
                </ns1:lnTo>
                <ns1:lnTo>
                  <ns1:pt x="1285875" y="1250806"/>
                </ns1:lnTo>
                <ns1:lnTo>
                  <ns1:pt x="0" y="1250806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/>
            <ns1:stretch>
              <ns1:fillRect/>
            </ns1:stretch>
          </ns1:blipFill>
        </ns0:spPr>
        <ns0:txBody>
          <ns1:bodyPr/>
          <ns1:lstStyle/>
          <ns1:p>
            <ns1:endParaRPr lang="ja-JP" altLang="en-US"/>
          </ns1:p>
        </ns0:txBody>
      </ns0:sp>
      <ns0:sp>
        <ns0:nvSpPr>
          <ns0:cNvPr id="18" name="Freeform 15"/>
          <ns0:cNvSpPr/>
          <ns0:nvPr/>
        </ns0:nvSpPr>
        <ns0:spPr>
          <ns1:xfrm>
            <ns1:off x="14185068" y="3049497"/>
            <ns1:ext cx="1285875" cy="1288217"/>
          </ns1:xfrm>
          <ns1:custGeom>
            <ns1:avLst/>
            <ns1:gdLst/>
            <ns1:ahLst/>
            <ns1:cxnLst/>
            <ns1:rect l="l" t="t" r="r" b="b"/>
            <ns1:pathLst>
              <ns1:path w="1285875" h="1288217">
                <ns1:moveTo>
                  <ns1:pt x="0" y="0"/>
                </ns1:moveTo>
                <ns1:lnTo>
                  <ns1:pt x="1285875" y="0"/>
                </ns1:lnTo>
                <ns1:lnTo>
                  <ns1:pt x="1285875" y="1288217"/>
                </ns1:lnTo>
                <ns1:lnTo>
                  <ns1:pt x="0" y="1288217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/>
            <ns1:stretch>
              <ns1:fillRect/>
            </ns1:stretch>
          </ns1:blipFill>
        </ns0:spPr>
        <ns0:txBody>
          <ns1:bodyPr/>
          <ns1:lstStyle/>
          <ns1:p>
            <ns1:endParaRPr lang="ja-JP" altLang="en-US"/>
          </ns1:p>
        </ns0:txBody>
      </ns0:sp>
      <ns0:sp>
        <ns0:nvSpPr>
          <ns0:cNvPr id="6" name="Rounded Rectangle 5"/>
          <ns0:cNvSpPr/>
          <ns0:nvPr/>
        </ns0:nvSpPr>
        <ns0:spPr>
          <ns1:xfrm>
            <ns1:off x="1005840" y="2926080"/>
            <ns1:ext cx="4572000" cy="2743200"/>
          </ns1:xfrm>
          <ns1:prstGeom prst="roundRect">
            <ns1:avLst>
              <ns1:gd name="adj" fmla="val 5000"/>
            </ns1:avLst>
          </ns1:prstGeom>
          <ns1:solidFill>
            <ns1:srgbClr val="1F2933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6" name="TextBox 6"/>
          <ns0:cNvSpPr txBox="1"/>
          <ns0:nvPr/>
        </ns0:nvSpPr>
        <ns0:spPr>
          <ns1:xfrm>
            <ns1:off x="1371600" y="3200400"/>
            <ns1:ext cx="3840480" cy="2144177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spcAft>
                <ns1:spcPts val="400"/>
              </ns1:spcAft>
            </ns1:pPr>
            <ns1:r>
              <ns1:rPr sz="2400" b="1" dirty="0">
                <ns1:solidFill>
                  <ns1:srgbClr val="FFFFFF"/>
                </ns1:solidFill>
                <ns1:latin typeface="BIZ UDPGothic"/>
              </ns1:rPr>
              <ns1:t>GitHub API / </ns1:t>
            </ns1:r>
            <ns1:r>
              <ns1:rPr sz="2400" b="1" dirty="0" err="1">
                <ns1:solidFill>
                  <ns1:srgbClr val="FFFFFF"/>
                </ns1:solidFill>
                <ns1:latin typeface="BIZ UDPGothic"/>
              </ns1:rPr>
              <ns1:t>Octokit</ns1:t>
            </ns1:r>
            <ns1:endParaRPr sz="2400" b="1" dirty="0">
              <ns1:solidFill>
                <ns1:srgbClr val="FFFFFF"/>
              </ns1:solidFill>
              <ns1:latin typeface="BIZ UDPGothic"/>
            </ns1:endParaRPr>
          </ns1:p>
          <ns1:p>
            <ns1:pPr>
              <ns1:spcAft>
                <ns1:spcPts val="400"/>
              </ns1:spcAft>
            </ns1:pPr>
            <ns1:endParaRPr sz="2400" b="1" dirty="0">
              <ns1:solidFill>
                <ns1:srgbClr val="FFFFFF"/>
              </ns1:solidFill>
              <ns1:latin typeface="BIZ UDPGothic"/>
            </ns1:endParaRPr>
          </ns1:p>
          <ns1:p>
            <ns1:pPr>
              <ns1:spcAft>
                <ns1:spcPts val="400"/>
              </ns1:spcAft>
            </ns1:pPr>
            <ns1:r>
              <ns1:rPr sz="2400" b="0" dirty="0" err="1">
                <ns1:solidFill>
                  <ns1:srgbClr val="FFFFFF"/>
                </ns1:solidFill>
                <ns1:latin typeface="BIZ UDPGothic"/>
              </ns1:rPr>
              <ns1:t>必要情報を取得</ns1:t>
            </ns1:r>
            <ns1:endParaRPr sz="2400" b="0" dirty="0">
              <ns1:solidFill>
                <ns1:srgbClr val="FFFFFF"/>
              </ns1:solidFill>
              <ns1:latin typeface="BIZ UDPGothic"/>
            </ns1:endParaRPr>
          </ns1:p>
          <ns1:p>
            <ns1:pPr>
              <ns1:spcAft>
                <ns1:spcPts val="400"/>
              </ns1:spcAft>
            </ns1:pPr>
            <ns1:r>
              <ns1:rPr sz="2400" b="0" dirty="0">
                <ns1:solidFill>
                  <ns1:srgbClr val="FFFFFF"/>
                </ns1:solidFill>
                <ns1:latin typeface="BIZ UDPGothic"/>
              </ns1:rPr>
              <ns1:t>・</ns1:t>
            </ns1:r>
            <ns1:r>
              <ns1:rPr sz="2400" b="0" dirty="0" err="1">
                <ns1:solidFill>
                  <ns1:srgbClr val="FFFFFF"/>
                </ns1:solidFill>
                <ns1:latin typeface="BIZ UDPGothic"/>
              </ns1:rPr>
              <ns1:t>Issue</ns1:t>
            </ns1:r>
            <ns1:r>
              <ns1:rPr sz="2400" b="0" dirty="0">
                <ns1:solidFill>
                  <ns1:srgbClr val="FFFFFF"/>
                </ns1:solidFill>
                <ns1:latin typeface="BIZ UDPGothic"/>
              </ns1:rPr>
              <ns1:t/>
            </ns1:r>
          </ns1:p>
          <ns1:p>
            <ns1:pPr>
              <ns1:spcAft>
                <ns1:spcPts val="400"/>
              </ns1:spcAft>
            </ns1:pPr>
            <ns1:r>
              <ns1:rPr sz="2400" b="0" dirty="0">
                <ns1:solidFill>
                  <ns1:srgbClr val="FFFFFF"/>
                </ns1:solidFill>
                <ns1:latin typeface="BIZ UDPGothic"/>
              </ns1:rPr>
              <ns1:t>・README / Docs</ns1:t>
            </ns1:r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5715000" y="4069080"/>
            <ns1:ext cx="1005840" cy="4572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ctr"/>
            <ns1:r>
              <ns1:rPr sz="4800" b="1">
                <ns1:solidFill>
                  <ns1:srgbClr val="00AEEF"/>
                </ns1:solidFill>
                <ns1:latin typeface="BIZ UDPGothic"/>
              </ns1:rPr>
              <ns1:t>→</ns1:t>
            </ns1:r>
          </ns1:p>
        </ns0:txBody>
      </ns0:sp>
      <ns0:sp>
        <ns0:nvSpPr>
          <ns0:cNvPr id="9" name="Rounded Rectangle 8"/>
          <ns0:cNvSpPr/>
          <ns0:nvPr/>
        </ns0:nvSpPr>
        <ns0:spPr>
          <ns1:xfrm>
            <ns1:off x="6858000" y="2926080"/>
            <ns1:ext cx="4572000" cy="2743200"/>
          </ns1:xfrm>
          <ns1:prstGeom prst="roundRect">
            <ns1:avLst>
              <ns1:gd name="adj" fmla="val 5000"/>
            </ns1:avLst>
          </ns1:prstGeom>
          <ns1:solidFill>
            <ns1:srgbClr val="5548E5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37" name="TextBox 9"/>
          <ns0:cNvSpPr txBox="1"/>
          <ns0:nvPr/>
        </ns0:nvSpPr>
        <ns0:spPr>
          <ns1:xfrm>
            <ns1:off x="7223760" y="3200400"/>
            <ns1:ext cx="3840480" cy="196977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spcAft>
                <ns1:spcPts val="400"/>
              </ns1:spcAft>
            </ns1:pPr>
            <ns1:r>
              <ns1:rPr sz="2800" b="1" dirty="0">
                <ns1:solidFill>
                  <ns1:srgbClr val="FFFFFF"/>
                </ns1:solidFill>
                <ns1:latin typeface="BIZ UDPGothic"/>
              </ns1:rPr>
              <ns1:t>Gemini 2.5 Flash</ns1:t>
            </ns1:r>
          </ns1:p>
          <ns1:p>
            <ns1:pPr>
              <ns1:spcAft>
                <ns1:spcPts val="400"/>
              </ns1:spcAft>
            </ns1:pPr>
            <ns1:endParaRPr sz="2800" b="1" dirty="0">
              <ns1:solidFill>
                <ns1:srgbClr val="FFFFFF"/>
              </ns1:solidFill>
              <ns1:latin typeface="BIZ UDPGothic"/>
            </ns1:endParaRPr>
          </ns1:p>
          <ns1:p>
            <ns1:pPr>
              <ns1:spcAft>
                <ns1:spcPts val="400"/>
              </ns1:spcAft>
            </ns1:pPr>
            <ns1:r>
              <ns1:rPr sz="2800" b="0" dirty="0" err="1">
                <ns1:solidFill>
                  <ns1:srgbClr val="FFFFFF"/>
                </ns1:solidFill>
                <ns1:latin typeface="BIZ UDPGothic"/>
              </ns1:rPr>
              <ns1:t>初心者向けに構造化</ns1:t>
            </ns1:r>
            <ns1:endParaRPr sz="2800" b="0" dirty="0">
              <ns1:solidFill>
                <ns1:srgbClr val="FFFFFF"/>
              </ns1:solidFill>
              <ns1:latin typeface="BIZ UDPGothic"/>
            </ns1:endParaRPr>
          </ns1:p>
          <ns1:p>
            <ns1:pPr>
              <ns1:spcAft>
                <ns1:spcPts val="400"/>
              </ns1:spcAft>
            </ns1:pPr>
            <ns1:r>
              <ns1:rPr sz="2800" b="0" dirty="0">
                <ns1:solidFill>
                  <ns1:srgbClr val="FFFFFF"/>
                </ns1:solidFill>
                <ns1:latin typeface="BIZ UDPGothic"/>
              </ns1:rPr>
              <ns1:t>→ </ns1:t>
            </ns1:r>
            <ns1:r>
              <ns1:rPr sz="2800" b="0" dirty="0" err="1">
                <ns1:solidFill>
                  <ns1:srgbClr val="FFFFFF"/>
                </ns1:solidFill>
                <ns1:latin typeface="BIZ UDPGothic"/>
              </ns1:rPr>
              <ns1:t>JSON出力</ns1:t>
            </ns1:r>
            <ns1:endParaRPr sz="2800" b="0" dirty="0">
              <ns1:solidFill>
                <ns1:srgbClr val="FFFFFF"/>
              </ns1:solidFill>
              <ns1:latin typeface="BIZ UDPGothic"/>
            </ns1:endParaRPr>
          </ns1:p>
        </ns0:txBody>
      </ns0:sp>
      <ns0:sp>
        <ns0:nvSpPr>
          <ns0:cNvPr id="38" name="TextBox 10"/>
          <ns0:cNvSpPr txBox="1"/>
          <ns0:nvPr/>
        </ns0:nvSpPr>
        <ns0:spPr>
          <ns1:xfrm>
            <ns1:off x="11567160" y="4069080"/>
            <ns1:ext cx="1005840" cy="4572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ctr"/>
            <ns1:r>
              <ns1:rPr sz="4800" b="1">
                <ns1:solidFill>
                  <ns1:srgbClr val="00AEEF"/>
                </ns1:solidFill>
                <ns1:latin typeface="BIZ UDPGothic"/>
              </ns1:rPr>
              <ns1:t>→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12710160" y="2926080"/>
            <ns1:ext cx="4572000" cy="2743200"/>
          </ns1:xfrm>
          <ns1:prstGeom prst="roundRect">
            <ns1:avLst>
              <ns1:gd name="adj" fmla="val 5000"/>
            </ns1:avLst>
          </ns1:prstGeom>
          <ns1:solidFill>
            <ns1:srgbClr val="2563EB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/>
          </ns1:p>
        </ns0:txBody>
      </ns0:sp>
      <ns0:sp>
        <ns0:nvSpPr>
          <ns0:cNvPr id="13" name="TextBox 12"/>
          <ns0:cNvSpPr txBox="1"/>
          <ns0:nvPr/>
        </ns0:nvSpPr>
        <ns0:spPr>
          <ns1:xfrm>
            <ns1:off x="13074855" y="3025305"/>
            <ns1:ext cx="3840480" cy="2564805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spcAft>
                <ns1:spcPts val="400"/>
              </ns1:spcAft>
            </ns1:pPr>
            <ns1:r>
              <ns1:rPr sz="2400" b="1" dirty="0" err="1">
                <ns1:solidFill>
                  <ns1:srgbClr val="FFFFFF"/>
                </ns1:solidFill>
                <ns1:latin typeface="BIZ UDPGothic"/>
              </ns1:rPr>
              <ns1:t>初心者向けUI</ns1:t>
            </ns1:r>
            <ns1:endParaRPr sz="2400" b="1" dirty="0">
              <ns1:solidFill>
                <ns1:srgbClr val="FFFFFF"/>
              </ns1:solidFill>
              <ns1:latin typeface="BIZ UDPGothic"/>
            </ns1:endParaRPr>
          </ns1:p>
          <ns1:p>
            <ns1:pPr>
              <ns1:spcAft>
                <ns1:spcPts val="400"/>
              </ns1:spcAft>
            </ns1:pPr>
            <ns1:endParaRPr sz="2400" b="1" dirty="0">
              <ns1:solidFill>
                <ns1:srgbClr val="FFFFFF"/>
              </ns1:solidFill>
              <ns1:latin typeface="BIZ UDPGothic"/>
            </ns1:endParaRPr>
          </ns1:p>
          <ns1:p>
            <ns1:pPr>
              <ns1:spcAft>
                <ns1:spcPts val="400"/>
              </ns1:spcAft>
            </ns1:pPr>
            <ns1:r>
              <ns1:rPr sz="2400" b="0" dirty="0" err="1">
                <ns1:solidFill>
                  <ns1:srgbClr val="FFFFFF"/>
                </ns1:solidFill>
                <ns1:latin typeface="BIZ UDPGothic"/>
              </ns1:rPr>
              <ns1:t>わかりやすく表示</ns1:t>
            </ns1:r>
            <ns1:endParaRPr sz="2400" b="0" dirty="0">
              <ns1:solidFill>
                <ns1:srgbClr val="FFFFFF"/>
              </ns1:solidFill>
              <ns1:latin typeface="BIZ UDPGothic"/>
            </ns1:endParaRPr>
          </ns1:p>
          <ns1:p>
            <ns1:pPr>
              <ns1:spcAft>
                <ns1:spcPts val="400"/>
              </ns1:spcAft>
            </ns1:pPr>
            <ns1:r>
              <ns1:rPr sz="2400" b="0" dirty="0">
                <ns1:solidFill>
                  <ns1:srgbClr val="FFFFFF"/>
                </ns1:solidFill>
                <ns1:latin typeface="BIZ UDPGothic"/>
              </ns1:rPr>
              <ns1:t>・</ns1:t>
            </ns1:r>
            <ns1:r>
              <ns1:rPr sz="2400" b="0" dirty="0" err="1">
                <ns1:solidFill>
                  <ns1:srgbClr val="FFFFFF"/>
                </ns1:solidFill>
                <ns1:latin typeface="BIZ UDPGothic"/>
              </ns1:rPr>
              <ns1:t>極小ステップ</ns1:t>
            </ns1:r>
            <ns1:endParaRPr sz="2400" b="0" dirty="0">
              <ns1:solidFill>
                <ns1:srgbClr val="FFFFFF"/>
              </ns1:solidFill>
              <ns1:latin typeface="BIZ UDPGothic"/>
            </ns1:endParaRPr>
          </ns1:p>
          <ns1:p>
            <ns1:pPr>
              <ns1:spcAft>
                <ns1:spcPts val="400"/>
              </ns1:spcAft>
            </ns1:pPr>
            <ns1:r>
              <ns1:rPr sz="2400" b="0" dirty="0">
                <ns1:solidFill>
                  <ns1:srgbClr val="FFFFFF"/>
                </ns1:solidFill>
                <ns1:latin typeface="BIZ UDPGothic"/>
              </ns1:rPr>
              <ns1:t>・</ns1:t>
            </ns1:r>
            <ns1:r>
              <ns1:rPr sz="2400" b="0" dirty="0" err="1">
                <ns1:solidFill>
                  <ns1:srgbClr val="FFFFFF"/>
                </ns1:solidFill>
                <ns1:latin typeface="BIZ UDPGothic"/>
              </ns1:rPr>
              <ns1:t>公式ドキュメントリンク</ns1:t>
            </ns1:r>
            <ns1:endParaRPr sz="2400" b="0" dirty="0">
              <ns1:solidFill>
                <ns1:srgbClr val="FFFFFF"/>
              </ns1:solidFill>
              <ns1:latin typeface="BIZ UDPGothic"/>
            </ns1:endParaRPr>
          </ns1:p>
          <ns1:p>
            <ns1:pPr>
              <ns1:spcAft>
                <ns1:spcPts val="400"/>
              </ns1:spcAft>
            </ns1:pPr>
            <ns1:r>
              <ns1:rPr sz="2400" b="0" dirty="0">
                <ns1:solidFill>
                  <ns1:srgbClr val="FFFFFF"/>
                </ns1:solidFill>
                <ns1:latin typeface="BIZ UDPGothic"/>
              </ns1:rPr>
              <ns1:t>・</ns1:t>
            </ns1:r>
            <ns1:r>
              <ns1:rPr sz="2400" b="0" dirty="0" err="1">
                <ns1:solidFill>
                  <ns1:srgbClr val="FFFFFF"/>
                </ns1:solidFill>
                <ns1:latin typeface="BIZ UDPGothic"/>
              </ns1:rPr>
              <ns1:t>コマンドコピペ</ns1:t>
            </ns1:r>
            <ns1:endParaRPr sz="2400" b="0" dirty="0">
              <ns1:solidFill>
                <ns1:srgbClr val="FFFFFF"/>
              </ns1:solidFill>
              <ns1:latin typeface="BIZ UDPGothic"/>
            </ns1:endParaRPr>
          </ns1:p>
        </ns0:txBody>
      </ns0:sp>
      <ns0:sp>
        <ns0:nvSpPr>
          <ns0:cNvPr id="39" name="Oval 13"/>
          <ns0:cNvSpPr>
            <ns1:spLocks noChangeAspect="1"/>
          </ns0:cNvSpPr>
          <ns0:nvPr/>
        </ns0:nvSpPr>
        <ns0:spPr>
          <ns1:xfrm>
            <ns1:off x="1371600" y="6625275"/>
            <ns1:ext cx="1220000" cy="1220000"/>
          </ns1:xfrm>
          <ns1:prstGeom prst="ellipse">
            <ns1:avLst/>
          </ns1:prstGeom>
          <ns1:solidFill>
            <ns1:srgbClr val="00AEEF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wrap="none" rtlCol="0" anchor="ctr"/>
          <ns1:lstStyle/>
          <ns1:p>
            <ns1:pPr algn="ctr"/>
            <ns1:r>
              <ns1:rPr lang="ja-JP" altLang="en-US" sz="2400" b="1" dirty="0">
                <ns1:solidFill>
                  <ns1:srgbClr val="FFFFFF"/>
                </ns1:solidFill>
                <ns1:latin typeface="BIZ UDPGothic"/>
              </ns1:rPr>
              <ns1:t>1</ns1:t>
            </ns1:r>
            <ns1:endParaRPr sz="2400" b="1" dirty="0">
              <ns1:solidFill>
                <ns1:srgbClr val="FFFFFF"/>
              </ns1:solidFill>
              <ns1:latin typeface="BIZ UDPGothic"/>
            </ns1:endParaRPr>
          </ns1:p>
        </ns0:txBody>
      </ns0:sp>
      <ns0:sp>
        <ns0:nvSpPr>
          <ns0:cNvPr id="40" name="TextBox 14"/>
          <ns0:cNvSpPr txBox="1"/>
          <ns0:nvPr/>
        </ns0:nvSpPr>
        <ns0:spPr>
          <ns1:xfrm>
            <ns1:off x="2800000" y="6935449"/>
            <ns1:ext cx="8050000" cy="5232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800" b="0" dirty="0" err="1">
                <ns1:solidFill>
                  <ns1:srgbClr val="262262"/>
                </ns1:solidFill>
                <ns1:latin typeface="BIZ UDPGothic"/>
              </ns1:rPr>
              <ns1:t>Issueの粒度調整</ns1:t>
            </ns1:r>
            <ns1:r>
              <ns1:rPr sz="2800" b="0" dirty="0">
                <ns1:solidFill>
                  <ns1:srgbClr val="262262"/>
                </ns1:solidFill>
                <ns1:latin typeface="BIZ UDPGothic"/>
              </ns1:rPr>
              <ns1:t>  →  </ns1:t>
            </ns1:r>
            <ns1:r>
              <ns1:rPr sz="2800" b="0" dirty="0" err="1">
                <ns1:solidFill>
                  <ns1:srgbClr val="262262"/>
                </ns1:solidFill>
                <ns1:latin typeface="BIZ UDPGothic"/>
              </ns1:rPr>
              <ns1:t>参加しやすい小ステップ</ns1:t>
            </ns1:r>
            <ns1:endParaRPr sz="2800" b="0" dirty="0">
              <ns1:solidFill>
                <ns1:srgbClr val="262262"/>
              </ns1:solidFill>
              <ns1:latin typeface="BIZ UDPGothic"/>
            </ns1:endParaRPr>
          </ns1:p>
        </ns0:txBody>
      </ns0:sp>
      <ns0:sp>
        <ns0:nvSpPr>
          <ns0:cNvPr id="16" name="Oval 15"/>
          <ns0:cNvSpPr>
            <ns1:spLocks noChangeAspect="1"/>
          </ns0:cNvSpPr>
          <ns0:nvPr/>
        </ns0:nvSpPr>
        <ns0:spPr>
          <ns1:xfrm>
            <ns1:off x="9630000" y="6602214"/>
            <ns1:ext cx="1220000" cy="1220000"/>
          </ns1:xfrm>
          <ns1:prstGeom prst="ellipse">
            <ns1:avLst/>
          </ns1:prstGeom>
          <ns1:solidFill>
            <ns1:srgbClr val="00AEEF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wrap="none" rtlCol="0" anchor="ctr"/>
          <ns1:lstStyle/>
          <ns1:p>
            <ns1:pPr algn="ctr"/>
            <ns1:r>
              <ns1:rPr sz="2400" b="1" dirty="0">
                <ns1:solidFill>
                  <ns1:srgbClr val="FFFFFF"/>
                </ns1:solidFill>
                <ns1:latin typeface="BIZ UDPGothic"/>
              </ns1:rPr>
              <ns1:t>2</ns1:t>
            </ns1:r>
          </ns1:p>
        </ns0:txBody>
      </ns0:sp>
      <ns0:sp>
        <ns0:nvSpPr>
          <ns0:cNvPr id="17" name="TextBox 16"/>
          <ns0:cNvSpPr txBox="1"/>
          <ns0:nvPr/>
        </ns0:nvSpPr>
        <ns0:spPr>
          <ns1:xfrm>
            <ns1:off x="11380000" y="6932006"/>
            <ns1:ext cx="6200000" cy="5232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800" b="0" dirty="0">
                <ns1:solidFill>
                  <ns1:srgbClr val="262262"/>
                </ns1:solidFill>
                <ns1:latin typeface="BIZ UDPGothic"/>
              </ns1:rPr>
              <ns1:t>Issue  →  </ns1:t>
            </ns1:r>
            <ns1:r>
              <ns1:rPr sz="2800" b="0" dirty="0" err="1">
                <ns1:solidFill>
                  <ns1:srgbClr val="262262"/>
                </ns1:solidFill>
                <ns1:latin typeface="BIZ UDPGothic"/>
              </ns1:rPr>
              <ns1:t>極小タスク分解</ns1:t>
            </ns1:r>
            <ns1:endParaRPr sz="2800" b="0" dirty="0">
              <ns1:solidFill>
                <ns1:srgbClr val="262262"/>
              </ns1:solidFill>
              <ns1:latin typeface="BIZ UDPGothic"/>
            </ns1:endParaRPr>
          </ns1:p>
        </ns0:txBody>
      </ns0:sp>
      <ns0:sp>
        <ns0:nvSpPr>
          <ns0:cNvPr id="41" name="Oval 17"/>
          <ns0:cNvSpPr>
            <ns1:spLocks noChangeAspect="1"/>
          </ns0:cNvSpPr>
          <ns0:nvPr/>
        </ns0:nvSpPr>
        <ns0:spPr>
          <ns1:xfrm>
            <ns1:off x="4117219" y="8330000"/>
            <ns1:ext cx="1220000" cy="1220000"/>
          </ns1:xfrm>
          <ns1:prstGeom prst="ellipse">
            <ns1:avLst/>
          </ns1:prstGeom>
          <ns1:solidFill>
            <ns1:srgbClr val="00AEEF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wrap="none" rtlCol="0" anchor="ctr"/>
          <ns1:lstStyle/>
          <ns1:p>
            <ns1:pPr algn="ctr"/>
            <ns1:r>
              <ns1:rPr sz="2400" b="1">
                <ns1:solidFill>
                  <ns1:srgbClr val="FFFFFF"/>
                </ns1:solidFill>
                <ns1:latin typeface="BIZ UDPGothic"/>
              </ns1:rPr>
              <ns1:t>3</ns1:t>
            </ns1:r>
          </ns1:p>
        </ns0:txBody>
      </ns0:sp>
      <ns0:sp>
        <ns0:nvSpPr>
          <ns0:cNvPr id="42" name="TextBox 18"/>
          <ns0:cNvSpPr txBox="1"/>
          <ns0:nvPr/>
        </ns0:nvSpPr>
        <ns0:spPr>
          <ns1:xfrm>
            <ns1:off x="5605000" y="8678390"/>
            <ns1:ext cx="8050000" cy="5232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2800" b="0" dirty="0" err="1">
                <ns1:solidFill>
                  <ns1:srgbClr val="262262"/>
                </ns1:solidFill>
                <ns1:latin typeface="BIZ UDPGothic"/>
              </ns1:rPr>
              <ns1:t>プロジェクト参加</ns1:t>
            </ns1:r>
            <ns1:r>
              <ns1:rPr sz="2800" b="0" dirty="0">
                <ns1:solidFill>
                  <ns1:srgbClr val="262262"/>
                </ns1:solidFill>
                <ns1:latin typeface="BIZ UDPGothic"/>
              </ns1:rPr>
              <ns1:t>  →  </ns1:t>
            </ns1:r>
            <ns1:r>
              <ns1:rPr sz="2800" b="0" dirty="0" err="1">
                <ns1:solidFill>
                  <ns1:srgbClr val="262262"/>
                </ns1:solidFill>
                <ns1:latin typeface="BIZ UDPGothic"/>
              </ns1:rPr>
              <ns1:t>最初の一歩を提示</ns1:t>
            </ns1:r>
            <ns1:endParaRPr sz="2800" b="0" dirty="0">
              <ns1:solidFill>
                <ns1:srgbClr val="262262"/>
              </ns1:solidFill>
              <ns1:latin typeface="BIZ UDPGothic"/>
            </ns1:endParaRPr>
          </ns1:p>
        </ns0:txBody>
      </ns0:sp>
    </ns0:spTree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59</Words>
  <Application>Microsoft Office PowerPoint</Application>
  <PresentationFormat>ユーザー設定</PresentationFormat>
  <Paragraphs>26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BIZ UDPGothic</vt:lpstr>
      <vt:lpstr>Arial</vt:lpstr>
      <vt:lpstr>Calibri</vt:lpstr>
      <vt:lpstr>Office Theme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森　拓磨</cp:lastModifiedBy>
  <cp:revision>9</cp:revision>
  <dcterms:created xsi:type="dcterms:W3CDTF">2013-01-27T09:14:16Z</dcterms:created>
  <dcterms:modified xsi:type="dcterms:W3CDTF">2026-03-20T05:58:32Z</dcterms:modified>
  <cp:category/>
</cp:coreProperties>
</file>